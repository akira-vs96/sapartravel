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8DF285-6DF8-D7EA-4CB0-6D732F88C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131CF1-E2DE-C767-BCC4-9FED301A6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F4D983-ECDE-4B69-F1E3-39A94CC7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B80540-5304-526F-B2DE-2C72F4D3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46EF03-34F1-221C-9FDA-E653981B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23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7081B-73B5-38C4-15CF-64745D0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A46903-B76B-4AE6-1C95-8ADC29FDB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5CBF16-5AEA-5FEC-1B1E-A59D7A3D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4C6FF9-622C-E20E-961D-41077729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622D23-B6E7-1FF3-6EA7-20E8B60E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26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2B4DA-8400-E2A1-66E2-17B0BC124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DD8126-B7F7-A4B0-77A8-07C1E72B3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AB0EF3-8C30-1457-B434-2D5CF021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46C5E8-9B49-1410-31EC-76ADD2AB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1BD3D5-836B-F210-B051-5A1E846D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3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6DEA6-34A5-ED99-1B5D-9005CA07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747674-B2BA-98F5-30F5-203B053FF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433B73-78B8-94BE-B5EB-86AE5AA7F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A97BD9-7672-5443-0E72-A5BC6406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E75BE1-0257-E3A4-D469-9107629B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ECA382-0B3A-85B9-AE20-F5A069ED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49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AF56C-3592-85D3-023D-A8B98D654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4B97C0-00D5-F07C-D601-13576FB1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3E9CD7-53AF-7044-E35D-45ADEDF4B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592988-1BD4-5AFA-86CE-103E528F1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494D51-6D43-6545-D462-31D7591C3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A8C9F3-9BBB-B03B-CE4B-9083D79A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54FA086-BD17-0BCB-3E88-4DCDDE89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C8C74BC-7BC7-256A-76AA-69CA7FE9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88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B4A25-0BD0-BA99-C04C-6FEACE51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4DA2B2-80AD-B2AD-597F-CCF35454A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1863A5-D5F4-33BD-3371-66F6876A7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4E9731-4D3E-0E1B-653B-29BDB269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08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93ACD2E-EF80-A35F-317C-0375DADA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300701A-AA64-0164-DCB3-9691102C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7A51C6-3083-6CA4-8412-D45E958E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34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0E337-3EA5-6454-9A40-F41683D8A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79F0B6-C04F-5134-3180-D90A159F1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071B2E-4655-DADA-D745-58190DDF6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E08867-F8FF-4321-1D9F-57BAA93A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67E561-498B-EBD4-045C-4BD8F7F90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F150A7-FDDA-507D-0611-C796768E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96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0AD6A-6C39-F739-5F5C-0105B7446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27F3FF-FCE8-0795-F3A6-E7AD71B55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93BB01-48B6-87DA-3CF1-153940945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1B77F7-AD09-6083-DBA4-344707D5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332687-5836-81FF-15F6-538F7A6D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55CB43-C2A3-C5C0-5B2F-686D021A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52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6E689-3D33-7694-2FA4-186F8667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4B91EA-AA29-AF69-9F27-92769AA9B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660B90-E88F-7F4D-F19F-8636FF85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5D99C5-DAB1-81CA-1861-5C27DBB8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2A829A-8B11-2A51-56B3-25E9715D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10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CF2DEA6-253D-ECE4-CD55-E80AA98EB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752321-368F-6DC0-02D7-FF81C5271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835D71-B5F9-84CE-8BCE-993E98D7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F195A7-85FD-2AB3-4ED0-6AEEBC86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FCFFF9-EB81-25F4-DE95-0ED2F206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23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8EB78-F74E-46FE-0E8E-FB924298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F628F6-A720-6131-768F-45D385AB7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2B747B-E395-FA12-292A-42A1C4727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59AD1-B4D2-48DC-AF4E-A2EF5D9E54D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184C19-E366-B087-359E-F6B27BEB8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D4FECC-201F-C60E-5CDA-F960F9743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87376-17FA-4BC8-94F6-0549E4855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00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44572D3-3DAE-F664-EB88-DDFA0DAFD8A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FC505-8460-70FC-A2BB-456AF5C8F08E}"/>
              </a:ext>
            </a:extLst>
          </p:cNvPr>
          <p:cNvSpPr txBox="1"/>
          <p:nvPr/>
        </p:nvSpPr>
        <p:spPr>
          <a:xfrm>
            <a:off x="711200" y="190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Управление ИТ-проектами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B54D25D-6B28-6E6E-8D98-9A57166D3DA1}"/>
              </a:ext>
            </a:extLst>
          </p:cNvPr>
          <p:cNvSpPr/>
          <p:nvPr/>
        </p:nvSpPr>
        <p:spPr>
          <a:xfrm>
            <a:off x="711200" y="2997200"/>
            <a:ext cx="1524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8E241-02FE-A174-3556-7CD5EBFDADC9}"/>
              </a:ext>
            </a:extLst>
          </p:cNvPr>
          <p:cNvSpPr txBox="1"/>
          <p:nvPr/>
        </p:nvSpPr>
        <p:spPr>
          <a:xfrm>
            <a:off x="711200" y="33528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Лекция 6. Оценка: почему все ошибаются и как ошибаться меньше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7F438-B7AE-FE19-D3B0-81E39899AA0E}"/>
              </a:ext>
            </a:extLst>
          </p:cNvPr>
          <p:cNvSpPr txBox="1"/>
          <p:nvPr/>
        </p:nvSpPr>
        <p:spPr>
          <a:xfrm>
            <a:off x="711200" y="57404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5C7080"/>
                </a:solidFill>
                <a:latin typeface="Segoe UI" panose="020B0502040204020203" pitchFamily="34" charset="0"/>
              </a:rPr>
              <a:t>Неделя 6 · 4 курс бакалавриата · осень 2026</a:t>
            </a:r>
          </a:p>
        </p:txBody>
      </p:sp>
    </p:spTree>
    <p:extLst>
      <p:ext uri="{BB962C8B-B14F-4D97-AF65-F5344CB8AC3E}">
        <p14:creationId xmlns:p14="http://schemas.microsoft.com/office/powerpoint/2010/main" val="332110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4EBA1-CA2E-4525-B22E-7BA979C727F9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Где мы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остановились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C626CF-A10F-D1F6-B350-FFD5527BA77E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7F090-3431-8281-0E12-0601EAD68853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Вы построили WBS, план релизов, карту зависимостей и посчитали capacity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На сетевом графике стояли длительности работ: 10 дней, 8 дней, 20 дней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Вопрос, который мы отложили: откуда взялись эти числа и насколько им можно верить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Сегодня — про оценку и про то, как отвечать на вопрос «когда будет готово»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3FBA029-D7F7-8606-EE7C-59B22A591614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10507-A5EF-937F-2E21-54CC2E8DAD5B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Правильный ответ на этот вопрос — не дата. Правильный ответ — вероятность.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BD4C0-0E75-141F-DA64-B95CE50C8827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8866DA-8E8A-D985-D679-78CDC37271C0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433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694EFE-6FCD-3CD4-1820-DDD862C57338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 чём эта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лекция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353B277-A93F-70A5-B574-63B79EFE6546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8ED04-83FB-BEC1-0263-A011DFB22AC9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Природа ошибки: конус неопределённости, оптимизм, давление заказчика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Методы: экспертная, аналоговая, параметрическая, трёхточечная, покер, T-shirt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Story points и велосити: как использовать и как их портят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Метрики потока: throughput, cycle time, WIP, закон Литтла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Монте-Карло: вероятностный прогноз вместо одной даты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Reference class forecasting: взгляд снаружи на свой проект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Буферы и как коммуницировать оценку заказчику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C802A-936B-3B0C-96A3-4E925C1DFF63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1420F-A779-70A0-A0E8-442C076E4AFB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6487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4CEB30-2E85-292B-7FCD-804CB4B7C9B1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Раздел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C9830-D1F2-E8B8-2890-02A370B9C4B9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Природа ошибки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AA457A-CF1E-9459-7737-6B7B9F52D9B7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911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AE4B7-E1E8-BD3D-A4C1-E93B64162CE4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Почему оценки почти всегда</a:t>
            </a:r>
            <a:r>
              <a:rPr lang="ru-RU" sz="30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оптимистичны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AA2DB7D-D90B-0330-839F-E787AA20BF1C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43758-B6D0-7969-4CD8-EFC5C9D06E5E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Мы оцениваем работу, а не помехи: совещания, ревью, доступы, ожидание ответа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Мы представляем сценарий, в котором всё идёт хорошо, — а он один из многих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Забытое не оценивается: то, чего мы не увидели, стоит ноль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Оценивает не тот, кто будет делать, или делает не тот, кто оценивал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Оптимизм не лечится опытом: он лечится данными и методом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86F06-7B34-2B71-441E-1A307F6E419A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0C3E7-E4BA-E238-1E11-1C703F005B02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995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DD13F-CEEB-8A57-3537-6D03DE6384E4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Конус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неопределённости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B3B1E22-A50D-CFE8-FD68-30052294138C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23A18-1242-0D32-5919-043BA0366575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В самом начале проекта оценка может отличаться от факта в разы в обе стороны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По мере прояснения требований и архитектуры разброс сужается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Конус сужается не от времени, а от снятой неопределённости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Значит, оценку нельзя дать один раз: у неё есть дата пересмотра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И значит, на старте честный ответ — это диапазон, а не число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«От 6 до 10 месяцев, уточним после discovery» — это профессиональный ответ, а не увиливание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40A5D-A65C-951F-CCB9-6732DE58EA61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F8521C-5188-D736-3C9B-EAE7850EB396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9423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08990A-58AD-B7B8-16A2-6824960BB1C4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Оценка, обязательство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и план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6FEDBB-D60D-66E9-D271-1817E544E21D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3A4944-07ED-513C-2D85-AB846F7FE99D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Оценка — сколько, по нашему мнению, это займёт. У неё есть разброс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Обязательство — что мы обещаем заказчику. Это решение, а не расчёт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План — как мы собираемся уложиться, включая резерв и порядок работ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Проблема начинается, когда оценку команды сразу объявляют обязательством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Давление заказчика меняет обязательство, но не меняет физику работы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Если срок диктуют — обсуждают не оценку, а объём: что уйдёт из скоупа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ECB15DF-FA9D-8100-0EF0-6A9739468D9D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4D2C9-6C25-E233-8415-EDBA651E0FF2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Фраза «а можно к 1 марта?» — это вопрос про скоуп, а не про оценку.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D0B22-B678-C1B6-1F15-F865F5C77966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B3C22-0370-E746-07BF-5C8BDEC88647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7589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83DDC-CD5E-53E5-90F3-148FE89B3B36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Раздел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90F1B-9F4F-FBF2-3AD7-1957CD36D613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Методы оценки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4CC3D5-E68B-BF9E-3574-0038CF8D48C1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753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BF0A03-BF87-4B68-ECC3-66ED4D44A1B9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Шесть методов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оценки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F65F896-F96E-5414-65E4-2F71F4842AE3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7A6A19C-E064-F549-B058-9273F1D41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579220"/>
              </p:ext>
            </p:extLst>
          </p:nvPr>
        </p:nvGraphicFramePr>
        <p:xfrm>
          <a:off x="711200" y="1905000"/>
          <a:ext cx="1076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704">
                  <a:extLst>
                    <a:ext uri="{9D8B030D-6E8A-4147-A177-3AD203B41FA5}">
                      <a16:colId xmlns:a16="http://schemas.microsoft.com/office/drawing/2014/main" val="1721699539"/>
                    </a:ext>
                  </a:extLst>
                </a:gridCol>
                <a:gridCol w="4738624">
                  <a:extLst>
                    <a:ext uri="{9D8B030D-6E8A-4147-A177-3AD203B41FA5}">
                      <a16:colId xmlns:a16="http://schemas.microsoft.com/office/drawing/2014/main" val="2328189982"/>
                    </a:ext>
                  </a:extLst>
                </a:gridCol>
                <a:gridCol w="3446272">
                  <a:extLst>
                    <a:ext uri="{9D8B030D-6E8A-4147-A177-3AD203B41FA5}">
                      <a16:colId xmlns:a16="http://schemas.microsoft.com/office/drawing/2014/main" val="75488417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Метод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Как работает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Когда применять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00901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Экспертная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Спросить того, кто делал похожее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Быстро, на любом этапе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99284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Аналоговая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Взять факт похожего проекта и скорректировать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Ранний этап, когда деталей нет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20564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Параметрическая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Умножить объём на удельную норму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Есть измеримый объём: экраны, отчёты, точки интеграции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62554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Трёхточечная (</a:t>
                      </a:r>
                      <a:r>
                        <a:rPr lang="en-US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PERT)</a:t>
                      </a:r>
                      <a:endParaRPr lang="ru-RU" sz="1300">
                        <a:solidFill>
                          <a:srgbClr val="111111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Оптимистично, вероятно, пессимистично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Когда нужен разброс, а не число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42419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Покер планирования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Команда оценивает независимо, потом сверяет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Истории бэклога, относительная оценка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0771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T-shirt sizing</a:t>
                      </a:r>
                      <a:endParaRPr lang="ru-RU" sz="1300">
                        <a:solidFill>
                          <a:srgbClr val="111111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S / M / L / XL без чисел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Портфель и инициативы на самом раннем этапе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621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E199DB-B288-793B-EC80-EE8E50EA5297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81265-FF8F-11F2-7EDA-92AA3CC0776B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51116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E76CA2-54DD-73A5-C14B-A1817F40E59E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Трёхточечная оценка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и </a:t>
            </a:r>
            <a:r>
              <a:rPr lang="en-US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PERT</a:t>
            </a:r>
            <a:endParaRPr lang="ru-RU" sz="3400">
              <a:solidFill>
                <a:srgbClr val="159FE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3907BD6-6841-1B00-3911-EFA00E775FB0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40407-94DA-069E-B4B2-4A33843C5915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Спрашиваем три числа: оптимистичное O, наиболее вероятное M, пессимистичное P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Ожидаемое: E = (O + 4M + P) / 6 — наиболее вероятное берётся с весом 4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Разброс: σ = (P − O) / 6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Пессимистичное — не «конец света», а реалистично плохой сценарий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Главная польза не в формуле: три вопроса заставляют проговорить риски работы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Разрыв между O и P — это и есть мера вашего незнания об этой работе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E7A75-1459-349A-4561-B41694EB870A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799EC-D3E1-97D5-12AA-234E7985CCA0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9467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4E6C9-3BBB-4E6F-A5FD-0E16288596ED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PERT: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пример расчёта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98ED181-CF59-218C-578D-6813F43D67A9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8F67969-032D-D0D6-CA12-11886FC69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177215"/>
              </p:ext>
            </p:extLst>
          </p:nvPr>
        </p:nvGraphicFramePr>
        <p:xfrm>
          <a:off x="711200" y="1905000"/>
          <a:ext cx="1076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664">
                  <a:extLst>
                    <a:ext uri="{9D8B030D-6E8A-4147-A177-3AD203B41FA5}">
                      <a16:colId xmlns:a16="http://schemas.microsoft.com/office/drawing/2014/main" val="3896459028"/>
                    </a:ext>
                  </a:extLst>
                </a:gridCol>
                <a:gridCol w="1400048">
                  <a:extLst>
                    <a:ext uri="{9D8B030D-6E8A-4147-A177-3AD203B41FA5}">
                      <a16:colId xmlns:a16="http://schemas.microsoft.com/office/drawing/2014/main" val="2679469637"/>
                    </a:ext>
                  </a:extLst>
                </a:gridCol>
                <a:gridCol w="1400048">
                  <a:extLst>
                    <a:ext uri="{9D8B030D-6E8A-4147-A177-3AD203B41FA5}">
                      <a16:colId xmlns:a16="http://schemas.microsoft.com/office/drawing/2014/main" val="3141721608"/>
                    </a:ext>
                  </a:extLst>
                </a:gridCol>
                <a:gridCol w="1400048">
                  <a:extLst>
                    <a:ext uri="{9D8B030D-6E8A-4147-A177-3AD203B41FA5}">
                      <a16:colId xmlns:a16="http://schemas.microsoft.com/office/drawing/2014/main" val="2772146229"/>
                    </a:ext>
                  </a:extLst>
                </a:gridCol>
                <a:gridCol w="1507744">
                  <a:extLst>
                    <a:ext uri="{9D8B030D-6E8A-4147-A177-3AD203B41FA5}">
                      <a16:colId xmlns:a16="http://schemas.microsoft.com/office/drawing/2014/main" val="159525443"/>
                    </a:ext>
                  </a:extLst>
                </a:gridCol>
                <a:gridCol w="1400048">
                  <a:extLst>
                    <a:ext uri="{9D8B030D-6E8A-4147-A177-3AD203B41FA5}">
                      <a16:colId xmlns:a16="http://schemas.microsoft.com/office/drawing/2014/main" val="264564263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Работа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O</a:t>
                      </a:r>
                      <a:endParaRPr lang="ru-RU" sz="1400">
                        <a:solidFill>
                          <a:srgbClr val="FFFFFF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M</a:t>
                      </a:r>
                      <a:endParaRPr lang="ru-RU" sz="1400">
                        <a:solidFill>
                          <a:srgbClr val="FFFFFF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P</a:t>
                      </a:r>
                      <a:endParaRPr lang="ru-RU" sz="1400">
                        <a:solidFill>
                          <a:srgbClr val="FFFFFF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E</a:t>
                      </a:r>
                      <a:endParaRPr lang="ru-RU" sz="1400">
                        <a:solidFill>
                          <a:srgbClr val="FFFFFF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σ</a:t>
                      </a:r>
                      <a:endParaRPr lang="ru-RU" sz="1400">
                        <a:solidFill>
                          <a:srgbClr val="FFFFFF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9646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Форма заявки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13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6,0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1,7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1549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Интеграция с реестром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23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10,0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3,0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3648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Отчёты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14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7,0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1,7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32516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Миграция данных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26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12,0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3,3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8734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Приёмочные испытания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11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5,0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1,3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45326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Итого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21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33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87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40,0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5,2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364973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BEEDB79-EAE2-038A-B74D-A523E8AF9788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2B31E-AEB2-62DC-DFA0-76D676024576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σ суммы — корень из суммы квадратов, а не сумма: 5,2, а не 11. Ошибки частично гасят друг друга.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BD0A0-787C-BFD5-2760-0B6BAC145480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6DEAA3-3E98-094C-1E0B-E0CFB3359027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14042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94AF08-B466-C457-89D2-AEE30EFCB347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Что делать с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результатом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743E73-8191-E4E8-D019-94EFAE5A1667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9787D-4243-14DA-B8F3-AFEB89745CEB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Ожидаемая длительность 40 дней — это примерно 50 процентов вероятности уложиться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Для 85 процентов добавляем примерно одну сигму: 40 + 5,2 ≈ 45 дней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Для 95 процентов — примерно 1,6 сигмы: около 49 дней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Заказчику называем не 40, а диапазон с указанием уровня уверенности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Обратите внимание: интеграция и миграция дают почти весь разброс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Значит, снижать неопределённость надо там, а не в форме заявки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50AEB-91C4-449C-C1B6-51C8778F3A1A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36FE1-139D-FE8B-DA13-02412DE3E19D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3080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73FED-0F2D-453F-A973-CFD34BB14346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Покер планирования</a:t>
            </a:r>
            <a:r>
              <a:rPr lang="ru-RU" sz="30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и </a:t>
            </a:r>
            <a:r>
              <a:rPr lang="en-US" sz="30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T-shirt sizing</a:t>
            </a:r>
            <a:endParaRPr lang="ru-RU" sz="3000">
              <a:solidFill>
                <a:srgbClr val="159FE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5BED8C9-56C0-38E9-E0D4-71626FD1D9F4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3D6B8-1A03-4F2F-2A30-48FB23BF6061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Все оценивают одновременно и независимо — чтобы не подстраиваться под старшего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Ценность не в среднем числе, а в расхождении: 2 и 13 означают разное понимание задачи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Обсуждают крайние оценки: что видит тот, кто поставил 13, и чего не видит тот, кто поставил 2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Итог обсуждения часто важнее оценки: находится забытая работа или скрытая зависимость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T-shirt sizing нужен, когда чисел ещё нет: сравнить инициативы по порядку величины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На ЛЗ 6 вы проведёте покер на 10 историях и зафиксируете причины расхождений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BCE6C-4F1E-7BD7-8629-F39BFD9A2056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5D182-FD66-2706-1ABC-EC508251CE99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4318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127754-91AE-EF95-DFBB-7C39C25ADC8C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Раздел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24973-BD1C-FBDF-1C31-1996DFD594C6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en-US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Story points</a:t>
            </a:r>
          </a:p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 велосити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33A92B-BF90-817E-5804-EAE09CF88C9E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277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E7608-2502-8C63-86B8-708B28FD8375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Что такое</a:t>
            </a:r>
            <a:r>
              <a:rPr lang="en-US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story points</a:t>
            </a:r>
            <a:endParaRPr lang="ru-RU" sz="3400">
              <a:solidFill>
                <a:srgbClr val="159FE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EDDAAF2-9ADC-A03C-8894-E21CAD2987A9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A750E-A0B6-CA39-5801-5768966A0E26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Относительная оценка размера: эта история примерно вдвое больше вон той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Учитывает объём, сложность и неопределённость сразу, а не только часы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Работает потому, что люди сравнивают лучше, чем оценивают в абсолютных числах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Story point не равен часам и не конвертируется в них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Шкала команды — её внутренняя валюта: у другой команды она другая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2C3FE-98FF-AF2A-765B-249ED5C86BA2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0ECB9-4C8D-E009-F321-CA404EFEEC57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3863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C098B7-A90F-8F51-0FDB-20B0CD697C1B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Велосити: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как использовать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9C3179-167A-F9A4-C1A4-085B47539B60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9A65F-1755-0C20-5215-A0E68E1D8124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Велосити — сколько story points команда фактически закрывает за спринт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Это измерение, а не цель: она наблюдается, а не назначается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Использовать надо диапазон за последние спринты, а не последнее значение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Смысл один: прикинуть, сколько спринтов уйдёт на оставшийся бэклог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Велосити нестабильна первые несколько спринтов новой команды — не стройте на ней обещаний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E914A-F948-F5EA-DF5D-70BF0FA8EB50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87A26-B1D0-D1AA-F6A2-CDA2E356BBD0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6333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D11F1-DDBC-330B-4308-D265DFC00760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Как велосити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портят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F15286B-A891-ED61-9625-1B552EE07ACD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202E5-1694-3AC3-D869-3AB96F020E71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Сравнивают команды между собой — а у них разные шкалы, это сравнение метров с килограммами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Делают из неё KPI — и она немедленно растёт, потому что растут оценки, а не поставка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Требуют «повысить велосити» — команда дробит истории и оценивает щедрее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Считают недоделанное: половина истории не даёт половины points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Правило: как только велосити становится целью, она перестаёт быть измерением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E0087A-B1D3-4EC6-2182-902E91B6B39B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9E1922-EF75-2F40-DE3E-065052A8F817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То же верно для любой метрики, по которой начинают премировать.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08E20-6AC2-96FF-ACAB-C4F12E4482D4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10022-1393-D169-27CD-D9EF39768D04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35972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73B36-C029-36D7-923B-F3A5577ACF4D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Раздел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F016A-96CF-BE82-4D39-461441B1CA4B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Метрики потока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BC0C63-FD4E-981A-EBF7-CFA1E2CDB6E7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286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FE06D0-D5A4-56B9-8C4F-BC8DC8F84907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Четыре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метрики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9EAD10-5491-3B5E-E4C4-4A14764A43C4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47449-B7C3-8FA9-9290-12F2046F2027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Throughput — сколько элементов команда завершает за период (неделю, спринт)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Cycle time — сколько проходит от взятия в работу до готовности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WIP — сколько элементов в работе прямо сейчас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Возраст незавершённой работы — сколько уже висит то, что ещё не закрыто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Последняя — самая полезная в ежедневной работе: она показывает проблему, пока не поздно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Все четыре берутся из трекера автоматически и не требуют оценок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5D788-1B7A-738E-345A-393929FBDED5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C0D3F-4EAB-41CE-C217-670A35A83143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97777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C72F89-D116-2E91-FD2F-562A755999AF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Закон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Литтла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41AA10-2D29-0BFA-B628-8F84293BA9DD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AAEF4-9523-1916-DD75-186A9AEFA465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Среднее время прохождения = среднее число элементов в работе / средняя пропускная способность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Проще: cycle time = WIP / throughput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Практический вывод: чтобы задачи проходили быстрее, уменьшайте WIP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Не «работайте быстрее», а «берите меньше одновременно» — это управляемый рычаг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20 задач в работе при 5 задачах в неделю — среднее прохождение 4 недели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Снизили WIP до 10 — прохождение стало 2 недели при той же скорости работы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6C318-DCE7-D1FD-4622-883ED5408AD1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CE152-0246-474F-C446-41EB354538C3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2644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19C4D-9158-8DC3-896E-5C31FFE5FF54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Прогноз вместо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оценки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1E8DD5A-775F-0666-214E-2782D2EEB9FC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F5258-EA2B-23E4-1E7A-8820910FCB57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Если команда уже работает, у вас есть история: сколько закрывалось каждую неделю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История — данные, а оценка — мнение. Данные врут реже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Прогноз по throughput не требует оценивать каждую историю в бэклоге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Достаточно знать число оставшихся элементов и разброс скорости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Условие применимости: элементы бэклога сопоставимы по размеру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Отсюда естественный переход к симуляции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EC517-4142-7B8A-DBD6-9DEEB96B9799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4074C-61E8-1373-51D3-196DC7BEC6D6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076908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89A5E-4145-8F98-3AD0-70D215A4A31F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Раздел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70F83-F874-5AD4-8192-FE1BAE3C4982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Монте-Карло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FD9105C-5F67-75E1-A681-EB3EE8D9649A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838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681758-6569-5C3F-6EEE-B34018A22850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Идея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симуляции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2C5E54-E80D-43EF-9F2D-1364792C5E1B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1B2F5-1F0F-CEE0-2012-847B6B5B2739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Будущее неизвестно, но прошлое известно: у нас есть распределение недельной скорости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Проигрываем будущее много раз, каждый раз случайно вытягивая неделю из истории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В каждом прогоне получаем свой срок завершения бэклога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10 000 прогонов дают распределение сроков, а не одну дату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Из распределения читаем квантили: P50, P70, P85, P95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Метод не требует ни story points, ни оценки отдельных задач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609BE-E456-E90A-5090-25885A51DC11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2AC3C-4A59-74E1-447C-52FEF1C0B830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452272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CF401-95A6-BF9A-79E6-781798CD1544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Четыре шага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симуляции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BEDB185-2C3E-054A-548A-0218C3E8CBF9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01B4E28-471A-3F96-1FB1-5AA3F2500687}"/>
              </a:ext>
            </a:extLst>
          </p:cNvPr>
          <p:cNvSpPr/>
          <p:nvPr/>
        </p:nvSpPr>
        <p:spPr>
          <a:xfrm>
            <a:off x="711200" y="2667000"/>
            <a:ext cx="2349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AD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EBDD4-AC4C-FA9A-86E0-F05D623EAA82}"/>
              </a:ext>
            </a:extLst>
          </p:cNvPr>
          <p:cNvSpPr txBox="1"/>
          <p:nvPr/>
        </p:nvSpPr>
        <p:spPr>
          <a:xfrm>
            <a:off x="889000" y="2895600"/>
            <a:ext cx="19939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7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Данные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31F417-A2A2-C839-890A-8A247A003704}"/>
              </a:ext>
            </a:extLst>
          </p:cNvPr>
          <p:cNvSpPr txBox="1"/>
          <p:nvPr/>
        </p:nvSpPr>
        <p:spPr>
          <a:xfrm>
            <a:off x="889000" y="33528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ru-RU" sz="1300">
                <a:solidFill>
                  <a:srgbClr val="5C7080"/>
                </a:solidFill>
                <a:latin typeface="Segoe UI" panose="020B0502040204020203" pitchFamily="34" charset="0"/>
              </a:rPr>
              <a:t>Throughput за 8–12 недель из трекера. Чем однороднее задачи, тем лучше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F5D5F-8B2B-1DD1-794B-C3D599873182}"/>
              </a:ext>
            </a:extLst>
          </p:cNvPr>
          <p:cNvSpPr txBox="1"/>
          <p:nvPr/>
        </p:nvSpPr>
        <p:spPr>
          <a:xfrm>
            <a:off x="3060700" y="33655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26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→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DA18E7E-511B-EFB5-19EA-4EBC50241339}"/>
              </a:ext>
            </a:extLst>
          </p:cNvPr>
          <p:cNvSpPr/>
          <p:nvPr/>
        </p:nvSpPr>
        <p:spPr>
          <a:xfrm>
            <a:off x="3517900" y="2667000"/>
            <a:ext cx="2349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AD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09663-1DA7-A9BA-9257-3EB4931A69E8}"/>
              </a:ext>
            </a:extLst>
          </p:cNvPr>
          <p:cNvSpPr txBox="1"/>
          <p:nvPr/>
        </p:nvSpPr>
        <p:spPr>
          <a:xfrm>
            <a:off x="3695700" y="2895600"/>
            <a:ext cx="19939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7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Прогоны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A89F7-286C-EEC3-E352-80C377221ADE}"/>
              </a:ext>
            </a:extLst>
          </p:cNvPr>
          <p:cNvSpPr txBox="1"/>
          <p:nvPr/>
        </p:nvSpPr>
        <p:spPr>
          <a:xfrm>
            <a:off x="3695700" y="33528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ru-RU" sz="1300">
                <a:solidFill>
                  <a:srgbClr val="5C7080"/>
                </a:solidFill>
                <a:latin typeface="Segoe UI" panose="020B0502040204020203" pitchFamily="34" charset="0"/>
              </a:rPr>
              <a:t>10 000 раз случайно тянем недели из истории, пока бэклог не закрыт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BCDFF-40A2-8F68-6E43-E19D9BA1E956}"/>
              </a:ext>
            </a:extLst>
          </p:cNvPr>
          <p:cNvSpPr txBox="1"/>
          <p:nvPr/>
        </p:nvSpPr>
        <p:spPr>
          <a:xfrm>
            <a:off x="5867400" y="33655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26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→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EDBED05-F249-C167-D5C4-315F77301EA2}"/>
              </a:ext>
            </a:extLst>
          </p:cNvPr>
          <p:cNvSpPr/>
          <p:nvPr/>
        </p:nvSpPr>
        <p:spPr>
          <a:xfrm>
            <a:off x="6324600" y="2667000"/>
            <a:ext cx="2349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AD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3023D-B5CA-2C66-0ED6-2B9459612872}"/>
              </a:ext>
            </a:extLst>
          </p:cNvPr>
          <p:cNvSpPr txBox="1"/>
          <p:nvPr/>
        </p:nvSpPr>
        <p:spPr>
          <a:xfrm>
            <a:off x="6502400" y="2895600"/>
            <a:ext cx="19939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7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Распределение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E6B809-ABB4-68BA-6B31-A28983200D13}"/>
              </a:ext>
            </a:extLst>
          </p:cNvPr>
          <p:cNvSpPr txBox="1"/>
          <p:nvPr/>
        </p:nvSpPr>
        <p:spPr>
          <a:xfrm>
            <a:off x="6502400" y="33528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ru-RU" sz="1300">
                <a:solidFill>
                  <a:srgbClr val="5C7080"/>
                </a:solidFill>
                <a:latin typeface="Segoe UI" panose="020B0502040204020203" pitchFamily="34" charset="0"/>
              </a:rPr>
              <a:t>Гистограмма сроков и кумулятивная кривая вероятности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859D0B-46A7-4B5D-8EDD-3E68B1EA37F4}"/>
              </a:ext>
            </a:extLst>
          </p:cNvPr>
          <p:cNvSpPr txBox="1"/>
          <p:nvPr/>
        </p:nvSpPr>
        <p:spPr>
          <a:xfrm>
            <a:off x="8674100" y="33655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26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→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2D2CFE2-DFDD-397B-BF92-EB3049254E42}"/>
              </a:ext>
            </a:extLst>
          </p:cNvPr>
          <p:cNvSpPr/>
          <p:nvPr/>
        </p:nvSpPr>
        <p:spPr>
          <a:xfrm>
            <a:off x="9131300" y="2667000"/>
            <a:ext cx="2349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AD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BFE5D7-ACD0-FD8D-FB0A-4F54154C7F66}"/>
              </a:ext>
            </a:extLst>
          </p:cNvPr>
          <p:cNvSpPr txBox="1"/>
          <p:nvPr/>
        </p:nvSpPr>
        <p:spPr>
          <a:xfrm>
            <a:off x="9309100" y="2895600"/>
            <a:ext cx="19939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ru-RU" sz="17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Квантили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5FB253-0455-0078-B3CF-CAB756BF5DBE}"/>
              </a:ext>
            </a:extLst>
          </p:cNvPr>
          <p:cNvSpPr txBox="1"/>
          <p:nvPr/>
        </p:nvSpPr>
        <p:spPr>
          <a:xfrm>
            <a:off x="9309100" y="3352800"/>
            <a:ext cx="1993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ru-RU" sz="1300">
                <a:solidFill>
                  <a:srgbClr val="5C7080"/>
                </a:solidFill>
                <a:latin typeface="Segoe UI" panose="020B0502040204020203" pitchFamily="34" charset="0"/>
              </a:rPr>
              <a:t>P50, P70, P85, P95 — и перевод их в календарные даты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5CE2E54-09F3-DD3A-4165-9BEB85DAF251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23B1BD-83B3-8A22-FDC8-6268B5135B74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Полный код такой симуляции — около 15 строк на Python. Это ваш артефакт на ЛЗ 6.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2D1B5A-1B71-3378-DAB3-10270FDBE8F9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1E20A6-B325-EFB1-34E8-3CD7C3282DF7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85179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4BD40F-0ACD-9F2F-E709-C193085CEB75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Пример: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результат симуляции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127520-FBD7-32B8-2CCA-75CF7F1F14DB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D30B774-8A2B-3B32-05BE-EBAFF46FF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089000"/>
              </p:ext>
            </p:extLst>
          </p:nvPr>
        </p:nvGraphicFramePr>
        <p:xfrm>
          <a:off x="711200" y="1905000"/>
          <a:ext cx="10769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704">
                  <a:extLst>
                    <a:ext uri="{9D8B030D-6E8A-4147-A177-3AD203B41FA5}">
                      <a16:colId xmlns:a16="http://schemas.microsoft.com/office/drawing/2014/main" val="1677850138"/>
                    </a:ext>
                  </a:extLst>
                </a:gridCol>
                <a:gridCol w="2800096">
                  <a:extLst>
                    <a:ext uri="{9D8B030D-6E8A-4147-A177-3AD203B41FA5}">
                      <a16:colId xmlns:a16="http://schemas.microsoft.com/office/drawing/2014/main" val="1004047889"/>
                    </a:ext>
                  </a:extLst>
                </a:gridCol>
                <a:gridCol w="2584704">
                  <a:extLst>
                    <a:ext uri="{9D8B030D-6E8A-4147-A177-3AD203B41FA5}">
                      <a16:colId xmlns:a16="http://schemas.microsoft.com/office/drawing/2014/main" val="3625515339"/>
                    </a:ext>
                  </a:extLst>
                </a:gridCol>
                <a:gridCol w="2800096">
                  <a:extLst>
                    <a:ext uri="{9D8B030D-6E8A-4147-A177-3AD203B41FA5}">
                      <a16:colId xmlns:a16="http://schemas.microsoft.com/office/drawing/2014/main" val="1249090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Уровень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Срок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Дата завершения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Что это значит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3121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P50</a:t>
                      </a:r>
                      <a:endParaRPr lang="ru-RU" sz="1300">
                        <a:solidFill>
                          <a:srgbClr val="111111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10 недель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15 декабря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Шанс успеть — примерно 50 на 50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44242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P70</a:t>
                      </a:r>
                      <a:endParaRPr lang="ru-RU" sz="1300">
                        <a:solidFill>
                          <a:srgbClr val="111111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11 недель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22 декабря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Разумный внутренний план команды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78770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P85</a:t>
                      </a:r>
                      <a:endParaRPr lang="ru-RU" sz="1300">
                        <a:solidFill>
                          <a:srgbClr val="111111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12 недель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29 декабря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То, что называют заказчику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41148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P95</a:t>
                      </a:r>
                      <a:endParaRPr lang="ru-RU" sz="1300">
                        <a:solidFill>
                          <a:srgbClr val="111111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13 недель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5 января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Дата для обязательств с высокой ценой срыва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1513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F27FE9-8EBD-2CD4-050B-3E5C45800095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3E5FD-1297-496B-0990-22B44C6B7FB7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Исходные данные: бэклог 60 элементов, throughput за 10 недель — 3, 8, 4, 10, 2, 7, 9, 5, 6, 6.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3630B-6F8B-B2D3-BBE6-5100B49E3466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48B94-B623-70B3-D7CA-B4675C57EEFE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51449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6AFC23-5B26-C62C-1CC3-1FD8F4701D24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Сравните с обычной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оценкой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7FB9CBE-5B43-A1CE-D37C-C2900B28CFC1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521B4-9416-BEF8-66A2-A3DC196DBB29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Средний throughput в примере ровно 6 элементов в неделю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Обычный расчёт: 60 / 6 = 10 недель — и эта дата уходит заказчику как обещание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Но 10 недель — это P50: вероятность успеть примерно половина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Разница между P50 и P85 в этом примере — три недели. Именно её обычно и не закладывают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Отсюда системная просрочка: обещают медиану, а живут в реальности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На ЛЗ 6 вы сравните свою симуляцию с оценкой команды и объясните расхождение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759EA8-3B20-666F-EFF7-B254CF0D9882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B6DEC-B04E-B5D5-2C65-2749272F0307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744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B4C9FC-1C53-36C6-73DB-A95A4FA04A88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Ограничения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метода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F14FD0-67FC-AC19-2114-37463969BD00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DF456-0D40-A0A6-1218-97FF326E354E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Нужна история: на новой команде без данных симуляция бессмысленна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Предполагается, что будущее похоже на прошлое — при смене состава это неверно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Элементы бэклога должны быть сопоставимы: одна эпопея среди мелких историй ломает прогноз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Растущий бэклог надо учитывать отдельно: новые задачи появляются по ходу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Симуляция не отменяет мышления — она заменяет только арифметику деления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C8AE1-82FE-B1C0-182D-7EB94011272E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2B1B9-5E36-250E-57EE-D3716C84FC47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139361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96DC2-9F55-58F0-D4BE-7362A7198A5D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Раздел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F05C6-6181-DDBE-1BB7-192781F88FAC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en-US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Reference class</a:t>
            </a:r>
          </a:p>
          <a:p>
            <a:pPr>
              <a:lnSpc>
                <a:spcPct val="95000"/>
              </a:lnSpc>
            </a:pPr>
            <a:r>
              <a:rPr lang="en-US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forecasting</a:t>
            </a:r>
            <a:endParaRPr lang="ru-RU" sz="4600">
              <a:solidFill>
                <a:srgbClr val="11111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D69CB1-9EAB-96B4-2B7C-A0141BC695B9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540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562455-5258-AAC3-8DC2-0504DD42B203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Взгляд изнутри и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снаружи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60F4800-27DF-F64E-C678-6E7D6C6FDDA1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F70B7-C904-47E1-B60D-783A7CDE6D67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Взгляд изнутри: разбираем свой проект по частям и складываем — так делают почти все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Он систематически оптимистичен, потому что не видит того, чего мы не предусмотрели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Взгляд снаружи: смотрим, чем закончились похожие проекты, и берём их статистику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Вопрос меняется: не «сколько займёт у нас», а «сколько занимало у всех»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Это некомфортно: всегда кажется, что наш проект особенный. Он обычно не особенный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99BF3-551B-21AA-EB11-FBF84A9F60A7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D148F-4842-CC8B-A468-E1F2748C879E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182939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8DCDC1-C56A-416D-5806-19A9750D2976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Как этим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пользоваться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710C56-A716-BE5F-443B-163AF3B41548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DC57F-6473-D847-B7F5-0B8C3678F880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Определите класс: похожие по типу, размеру и контексту проекты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Соберите факты: сколько планировали и сколько получилось на самом деле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Посчитайте типичное отклонение по классу — это ваш поправочный коэффициент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Примените его к своей оценке и объясните, откуда он взялся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Где брать данные: свои прошлые проекты, отраслевые отчёты, публичные post-mortem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Даже три сопоставимых проекта лучше, чем ноль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103657B-74FE-3387-3367-B4B6E7A75E6B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C8329-2548-DF3D-7184-B67B318A8A51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Ваш собственный референсный класс начнётся с этого проекта — фиксируйте план и факт с недели 6.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731D3-36B2-420E-80A3-880EFA892E7C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45630-7937-6659-BB6E-FA1847EE77CB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1338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DE540E-1B4C-B09B-979E-EFC9F060C158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Раздел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0069B-9979-9723-44B4-B382E1A3FB65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Буферы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2A021C-44A2-7947-498E-B8421ADCBFC2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715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EDBECF-6B98-16CA-B3C5-5F0F4B3B8C32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Почему резерв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исчезает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6973AC-4794-7EF7-DFAB-C39EA1805E0F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FF27C-5994-0C06-514D-EC7775EC06AD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Закон Паркинсона: работа занимает всё отведённое на неё время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Синдром студента: если срок дальний, начинают в последний момент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Ранний выигрыш не передаётся дальше, а опоздание передаётся всегда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Поэтому резерв, размазанный по задачам, тратится целиком и незаметно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И к концу проекта вы обнаруживаете, что запаса не осталось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FEF39-113F-454C-A0D3-DDD0689CD209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7D0F1-B76B-FF37-8850-E31A80E3E079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84435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63596E-0450-B41F-A2EF-ADD2A470A2DE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Где ставить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резерв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B22A9D-3C1D-2301-4D69-0050E1A4B5E1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50E95-BC63-4267-090D-000841B7A59A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Резерв ставится в конец этапа общим блоком, а не внутрь каждой задачи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Задачи оцениваются честно, без личных подстраховок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Общий буфер меньше суммы личных, потому что не все риски случатся одновременно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Буфер — управляемый ресурс: у него есть владелец и учёт расходования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Показатель здоровья: сколько буфера съедено относительно доли пройденного пути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Съели половину буфера на четверти работ — это сигнал сейчас, а не в конце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332FE-69D9-35B6-5DA4-2BB0168B0E03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45FF5-AD49-6BC2-D088-2E2D8FA15FA3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708115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A620E4-41F9-3C51-9273-4AAA60A2861C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Раздел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4642A-67B5-D780-1D5D-DF64A640DB33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Как говорить</a:t>
            </a:r>
          </a:p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об оценке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0BBFFC4-FF3F-BBE3-8A7A-838F456D11B7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866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CE95C3-3818-8CCD-764A-DEBC093417D3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Три обязательных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элемента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2C4539-592D-AA57-E80C-F9F1315FA4E9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7565E-3AA7-4989-15DD-FB0FC5461DEC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Диапазон с уровнем уверенности, а не одна дата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Допущения, при которых оценка верна: состав команды, доступы, готовность заказчика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Дата пересмотра: когда мы уточним прогноз и что для этого должно произойти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Отдельно — что может сдвинуть прогноз в худшую сторону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Такой ответ выглядит увереннее одной даты, а не слабее: видно, что вы управляете, а не гадаете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8D07B-8109-017E-4AD2-B377E9E0F5C7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AB0B7-A96F-628C-1BF8-74244B08BA89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197302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2B22A3-0F56-6D00-AA77-0FE497D5B514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Как отвечать на «когда</a:t>
            </a:r>
            <a:r>
              <a:rPr lang="ru-RU" sz="30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будет готово»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3C253F-54C0-808E-E7FA-55A3C32819A3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7F8F63B-1319-6C42-A7CC-3850055F2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513039"/>
              </p:ext>
            </p:extLst>
          </p:nvPr>
        </p:nvGraphicFramePr>
        <p:xfrm>
          <a:off x="711200" y="1905000"/>
          <a:ext cx="10769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3232">
                  <a:extLst>
                    <a:ext uri="{9D8B030D-6E8A-4147-A177-3AD203B41FA5}">
                      <a16:colId xmlns:a16="http://schemas.microsoft.com/office/drawing/2014/main" val="719869042"/>
                    </a:ext>
                  </a:extLst>
                </a:gridCol>
                <a:gridCol w="6246368">
                  <a:extLst>
                    <a:ext uri="{9D8B030D-6E8A-4147-A177-3AD203B41FA5}">
                      <a16:colId xmlns:a16="http://schemas.microsoft.com/office/drawing/2014/main" val="82094123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Так не надо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Так лучше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159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1952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Будет готово 15 декабря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С вероятностью 85 % закончим к 29 декабря; медиана — 15 декабря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6577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Постараемся успеть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Успеем, если доступы к тестовому контуру будут к 20 октября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Точно сказать не могу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Сейчас от 10 до 13 недель; уточню после первого инкремента 3 ноября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3817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 Semibold" panose="020B0702040204020203" pitchFamily="34" charset="0"/>
                        </a:rPr>
                        <a:t>Команда оценила в 40 дней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>
                          <a:solidFill>
                            <a:srgbClr val="111111"/>
                          </a:solidFill>
                          <a:latin typeface="Segoe UI" panose="020B0502040204020203" pitchFamily="34" charset="0"/>
                        </a:rPr>
                        <a:t>40 дней — это 50 %; для планирования возьмите 45</a:t>
                      </a:r>
                    </a:p>
                  </a:txBody>
                  <a:tcPr marL="101600" marR="101600" marT="50800" marB="50800">
                    <a:lnL w="9525" cmpd="sng">
                      <a:solidFill>
                        <a:srgbClr val="AAD1E9"/>
                      </a:solidFill>
                    </a:lnL>
                    <a:lnR w="9525" cmpd="sng">
                      <a:solidFill>
                        <a:srgbClr val="AAD1E9"/>
                      </a:solidFill>
                    </a:lnR>
                    <a:lnT w="9525" cmpd="sng">
                      <a:solidFill>
                        <a:srgbClr val="AAD1E9"/>
                      </a:solidFill>
                    </a:lnT>
                    <a:lnB w="9525" cmpd="sng">
                      <a:solidFill>
                        <a:srgbClr val="AAD1E9"/>
                      </a:solidFill>
                    </a:lnB>
                    <a:solidFill>
                      <a:srgbClr val="F0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38188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193663-E84B-8250-7BA4-A3E6FF79B226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3B943-9067-8019-CD8F-4D427A53E894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Никогда не называйте P50 как обещание. Медиана — это план команды, а не обязательство перед заказчиком.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CEB52-5132-2C36-9109-155D947B513D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2D87E-A02E-B9BD-95E1-785AFAB32D75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966492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B7EB9-4017-3C11-8D55-909D3AB88BD3}"/>
              </a:ext>
            </a:extLst>
          </p:cNvPr>
          <p:cNvSpPr txBox="1"/>
          <p:nvPr/>
        </p:nvSpPr>
        <p:spPr>
          <a:xfrm>
            <a:off x="711200" y="2235200"/>
            <a:ext cx="1076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>
                <a:solidFill>
                  <a:srgbClr val="159FE0"/>
                </a:solidFill>
                <a:latin typeface="Segoe UI Semibold" panose="020B0702040204020203" pitchFamily="34" charset="0"/>
              </a:rPr>
              <a:t>ЛЗ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494B2-ED26-8B27-3BBE-DF2E3D2AFF06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Лабораторная работа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C1705F6-2B59-C64E-90E4-8CC979410561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631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35A340-AD95-D56C-ECD1-74CD3B1467D6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ЛЗ 6. Часть 1: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симуляция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2CF28F4-F7B6-02F1-6E04-46610ACEA8F3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E8A0B-8639-61C1-C9F3-B57ABB18E49F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1. Взять исторические данные throughput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Набор данных выдаёт преподаватель либо экспортируется из открытого репозитория с историей issues на GitHub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2. Написать на Python симуляцию Монте-Карло: 10 000 прогонов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Jupyter локально или Google Colab — бесплатно, из браузера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Распределение даты завершения бэклога из N элементов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>
                <a:solidFill>
                  <a:srgbClr val="5C7080"/>
                </a:solidFill>
                <a:latin typeface="Segoe UI" panose="020B0502040204020203" pitchFamily="34" charset="0"/>
              </a:rPr>
              <a:t>Построить гистограмму и кумулятивную кривую, вывести P50, P70, P85, P95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16302-788C-5F1D-D1D8-F8B353B2D9D7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BB915-BF69-F555-D996-DFC0BE00BD64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666823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88E3F-8EEE-5AF5-5E99-1B66872B0F71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ЛЗ 6. Часть 2:</a:t>
            </a:r>
            <a:r>
              <a:rPr lang="ru-RU" sz="30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сравнение и покер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9288F19-4192-E651-0419-2EF0E9687986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94FD3-9154-B83F-1F62-C9D0CCCADE76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3. Сравнить результат симуляции с детерминированной оценкой команды по story points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 sz="2000">
                <a:solidFill>
                  <a:srgbClr val="5C7080"/>
                </a:solidFill>
                <a:latin typeface="Segoe UI" panose="020B0502040204020203" pitchFamily="34" charset="0"/>
              </a:rPr>
              <a:t>Объяснить расхождение: где именно теряется вероятность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4. Провести покер планирования на 10 историях своего бэклога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 sz="2000">
                <a:solidFill>
                  <a:srgbClr val="5C7080"/>
                </a:solidFill>
                <a:latin typeface="Segoe UI" panose="020B0502040204020203" pitchFamily="34" charset="0"/>
              </a:rPr>
              <a:t>Зафиксировать разброс мнений и причины расхождений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 sz="2000">
                <a:solidFill>
                  <a:srgbClr val="5C7080"/>
                </a:solidFill>
                <a:latin typeface="Segoe UI" panose="020B0502040204020203" pitchFamily="34" charset="0"/>
              </a:rPr>
              <a:t>Отдельно выписать, что нашлось в обсуждении: забытая работа, скрытая зависимость, разное понимание готовности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6AA7B-BD87-1960-982D-E07C6117F1B5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7CD4D-408B-E27D-161E-6D99FE8C330C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272452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B3333-17A0-8166-DFD1-09F425312860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0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ЛЗ 6. Часть 3:</a:t>
            </a:r>
            <a:r>
              <a:rPr lang="ru-RU" sz="30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слайд для заказчика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209B81-8F3D-6B1C-F637-98519229DA42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6DA1E-0046-F64D-04D1-2CB8C3CE9B5F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5. Подготовить один слайд «когда будет готово» для заказчика</a:t>
            </a:r>
          </a:p>
          <a:p>
            <a:pPr marL="1346200" lvl="1" indent="-457200">
              <a:lnSpc>
                <a:spcPct val="92000"/>
              </a:lnSpc>
              <a:spcAft>
                <a:spcPts val="1200"/>
              </a:spcAft>
              <a:buClr>
                <a:srgbClr val="5C7080"/>
              </a:buClr>
              <a:buSzPct val="100000"/>
              <a:buFont typeface="+mj-lt"/>
              <a:buChar char="▪"/>
            </a:pPr>
            <a:r>
              <a:rPr lang="ru-RU" sz="2000">
                <a:solidFill>
                  <a:srgbClr val="5C7080"/>
                </a:solidFill>
                <a:latin typeface="Segoe UI" panose="020B0502040204020203" pitchFamily="34" charset="0"/>
              </a:rPr>
              <a:t>Диапазон, допущения, что может изменить прогноз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Артефакт: notebook с симуляцией и графиками + слайд оценки для заказчика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Критерий: код воспроизводим — запускается с нуля и даёт те же графики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Критерий: вывод сформулирован в терминах вероятности, а не одной даты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ADCB5-BBD3-7048-F01A-3ED72046F18F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7C661-D695-20AC-4B0A-51A7D4FACA5A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727131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758540-F04C-4785-DF7A-C93A9A9D54A8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Итоги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лекции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F9455C-600F-C7F2-B9AB-7936F31DF406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41A74-6358-C831-7577-F713043F6B9C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Оценка оптимистична по природе; лечится это методом и данными, а не опытом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Оценка, обязательство и план — три разные вещи; путать их дорого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PERT даёт разброс, а не число; σ суммы — корень из суммы квадратов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Велосити — измерение; как только она становится KPI, она портится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Метрики потока позволяют прогнозировать без оценки каждой задачи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Монте-Карло даёт вероятность: заказчику называют P85, а не медиану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000">
                <a:solidFill>
                  <a:srgbClr val="111111"/>
                </a:solidFill>
                <a:latin typeface="Segoe UI Semibold" panose="020B0702040204020203" pitchFamily="34" charset="0"/>
              </a:rPr>
              <a:t>Резерв ставится общим блоком в конец и имеет владельца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3321B-2F7A-F425-3274-FCD93FB9B4F4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769FB-F56F-BC03-C851-0D7C07B3A80C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868374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D8A478-E0CC-6793-E540-436876D2FC0D}"/>
              </a:ext>
            </a:extLst>
          </p:cNvPr>
          <p:cNvSpPr txBox="1"/>
          <p:nvPr/>
        </p:nvSpPr>
        <p:spPr>
          <a:xfrm>
            <a:off x="711200" y="508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4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К следующей</a:t>
            </a:r>
            <a:r>
              <a:rPr lang="ru-RU" sz="3400">
                <a:solidFill>
                  <a:srgbClr val="159FE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неделе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F852440-3DF9-0296-3D06-EC550BF6B205}"/>
              </a:ext>
            </a:extLst>
          </p:cNvPr>
          <p:cNvSpPr/>
          <p:nvPr/>
        </p:nvSpPr>
        <p:spPr>
          <a:xfrm>
            <a:off x="711200" y="1498600"/>
            <a:ext cx="812800" cy="50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2E46C-E5F4-6CE1-6ACD-774C327D081D}"/>
              </a:ext>
            </a:extLst>
          </p:cNvPr>
          <p:cNvSpPr txBox="1"/>
          <p:nvPr/>
        </p:nvSpPr>
        <p:spPr>
          <a:xfrm>
            <a:off x="711200" y="1879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PMBOK 7 — домен «неопределённость»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Материалы по вероятностному прогнозированию и метрикам потока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Канеман, «Думай медленно, решай быстро» — про взгляд изнутри и снаружи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Повторить numpy и matplotlib: они понадобятся на ЛЗ 6</a:t>
            </a:r>
          </a:p>
          <a:p>
            <a:pPr marL="889000" indent="-457200">
              <a:lnSpc>
                <a:spcPct val="92000"/>
              </a:lnSpc>
              <a:spcAft>
                <a:spcPts val="1200"/>
              </a:spcAft>
              <a:buClr>
                <a:srgbClr val="159FE0"/>
              </a:buClr>
              <a:buSzPct val="100000"/>
              <a:buFont typeface="+mj-lt"/>
              <a:buChar char="→"/>
            </a:pPr>
            <a:r>
              <a:rPr lang="ru-RU" sz="2200">
                <a:solidFill>
                  <a:srgbClr val="111111"/>
                </a:solidFill>
                <a:latin typeface="Segoe UI Semibold" panose="020B0702040204020203" pitchFamily="34" charset="0"/>
              </a:rPr>
              <a:t>Лекция 7: риски, безопасность и соответствие требованиям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96098F7-6370-2090-2AC1-864443EF9308}"/>
              </a:ext>
            </a:extLst>
          </p:cNvPr>
          <p:cNvSpPr/>
          <p:nvPr/>
        </p:nvSpPr>
        <p:spPr>
          <a:xfrm>
            <a:off x="711200" y="5969000"/>
            <a:ext cx="38100" cy="4318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0312D3-576B-A009-FA68-03AF5F2C8CF5}"/>
              </a:ext>
            </a:extLst>
          </p:cNvPr>
          <p:cNvSpPr txBox="1"/>
          <p:nvPr/>
        </p:nvSpPr>
        <p:spPr>
          <a:xfrm>
            <a:off x="889000" y="5969000"/>
            <a:ext cx="1059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 i="1">
                <a:solidFill>
                  <a:srgbClr val="5C7080"/>
                </a:solidFill>
                <a:latin typeface="Segoe UI" panose="020B0502040204020203" pitchFamily="34" charset="0"/>
              </a:rPr>
              <a:t>К ЛЗ 7 подумайте: какой риск вашего проекта вы уже видите, но пока никуда не записали.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FDC2A-6FD8-5931-ABF3-2E24698083C9}"/>
              </a:ext>
            </a:extLst>
          </p:cNvPr>
          <p:cNvSpPr txBox="1"/>
          <p:nvPr/>
        </p:nvSpPr>
        <p:spPr>
          <a:xfrm>
            <a:off x="711200" y="6451600"/>
            <a:ext cx="1000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>
                <a:solidFill>
                  <a:srgbClr val="5C7080"/>
                </a:solidFill>
                <a:latin typeface="Segoe UI" panose="020B0502040204020203" pitchFamily="34" charset="0"/>
              </a:rPr>
              <a:t>Управление ИТ-проектами · Лекция 6 · Неделя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4A7DE-C6E2-51AF-B511-9FF2D81C02BC}"/>
              </a:ext>
            </a:extLst>
          </p:cNvPr>
          <p:cNvSpPr txBox="1"/>
          <p:nvPr/>
        </p:nvSpPr>
        <p:spPr>
          <a:xfrm>
            <a:off x="10718800" y="645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000">
                <a:solidFill>
                  <a:srgbClr val="5C7080"/>
                </a:solidFill>
                <a:latin typeface="Segoe UI Semibold" panose="020B0702040204020203" pitchFamily="34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875926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8586BD-3F8A-8FB0-983C-FA8817BE332F}"/>
              </a:ext>
            </a:extLst>
          </p:cNvPr>
          <p:cNvSpPr txBox="1"/>
          <p:nvPr/>
        </p:nvSpPr>
        <p:spPr>
          <a:xfrm>
            <a:off x="711200" y="2667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ru-RU" sz="4600">
                <a:solidFill>
                  <a:srgbClr val="11111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Вопросы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723FB97-FAD3-52A3-8744-2F5FC42276A7}"/>
              </a:ext>
            </a:extLst>
          </p:cNvPr>
          <p:cNvSpPr/>
          <p:nvPr/>
        </p:nvSpPr>
        <p:spPr>
          <a:xfrm>
            <a:off x="711200" y="4191000"/>
            <a:ext cx="1397000" cy="63500"/>
          </a:xfrm>
          <a:prstGeom prst="rect">
            <a:avLst/>
          </a:prstGeom>
          <a:solidFill>
            <a:srgbClr val="159F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872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2764</Words>
  <Application>Microsoft Office PowerPoint</Application>
  <PresentationFormat>Произвольный</PresentationFormat>
  <Paragraphs>385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Segoe UI</vt:lpstr>
      <vt:lpstr>Segoe UI Black</vt:lpstr>
      <vt:lpstr>Segoe UI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Самбетбаева Мадина Аралбаевна</dc:creator>
  <cp:lastModifiedBy>Самбетбаева Мадина Аралбаевна</cp:lastModifiedBy>
  <cp:revision>1</cp:revision>
  <dcterms:created xsi:type="dcterms:W3CDTF">2026-09-01T11:31:24Z</dcterms:created>
  <dcterms:modified xsi:type="dcterms:W3CDTF">2026-09-01T11:31:24Z</dcterms:modified>
</cp:coreProperties>
</file>