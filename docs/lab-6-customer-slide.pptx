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502920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176960"/>
                </a:solidFill>
                <a:latin typeface="Aptos"/>
              </a:rPr>
              <a:t>SAPARTRAVEL  /  MVP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21792"/>
            <a:ext cx="10789920" cy="5120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182B2B"/>
                </a:solidFill>
                <a:latin typeface="Aptos"/>
              </a:rPr>
              <a:t>Когда будет готово?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15568"/>
            <a:ext cx="1069848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46765"/>
                </a:solidFill>
                <a:latin typeface="Aptos"/>
              </a:rPr>
              <a:t>Текущий объём: 15 историй MVP  •  расчёт на 9 октября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536192"/>
            <a:ext cx="528523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4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73152" cy="1417320"/>
          </a:xfrm>
          <a:prstGeom prst="rect">
            <a:avLst/>
          </a:prstGeom>
          <a:solidFill>
            <a:srgbClr val="176960"/>
          </a:solidFill>
          <a:ln>
            <a:solidFill>
              <a:srgbClr val="1769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73352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176960"/>
                </a:solidFill>
                <a:latin typeface="Aptos"/>
              </a:rPr>
              <a:t>РАННИЙ ОРИЕНТИР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1929384"/>
            <a:ext cx="4617720" cy="4389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00" b="1">
                <a:solidFill>
                  <a:srgbClr val="182B2B"/>
                </a:solidFill>
                <a:latin typeface="Aptos"/>
              </a:rPr>
              <a:t>6 ноября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450592"/>
            <a:ext cx="4663440" cy="3017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546765"/>
                </a:solidFill>
                <a:latin typeface="Aptos"/>
              </a:rPr>
              <a:t>Примерно 50 из 100 сценариев завершились к этой дате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8" y="1536192"/>
            <a:ext cx="528523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4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6208" y="1536192"/>
            <a:ext cx="73152" cy="1417320"/>
          </a:xfrm>
          <a:prstGeom prst="rect">
            <a:avLst/>
          </a:prstGeom>
          <a:solidFill>
            <a:srgbClr val="C45E31"/>
          </a:solidFill>
          <a:ln>
            <a:solidFill>
              <a:srgbClr val="C45E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0528" y="1673352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C45E31"/>
                </a:solidFill>
                <a:latin typeface="Aptos"/>
              </a:rPr>
              <a:t>ПЛАН С ЗАПАСОМ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0528" y="1929384"/>
            <a:ext cx="4617720" cy="4389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00" b="1">
                <a:solidFill>
                  <a:srgbClr val="182B2B"/>
                </a:solidFill>
                <a:latin typeface="Aptos"/>
              </a:rPr>
              <a:t>13 ноября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0528" y="2450592"/>
            <a:ext cx="4663440" cy="3017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546765"/>
                </a:solidFill>
                <a:latin typeface="Aptos"/>
              </a:rPr>
              <a:t>85 из 100 сценариев завершились не позднее этой даты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3218688"/>
            <a:ext cx="365760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176960"/>
                </a:solidFill>
                <a:latin typeface="Aptos"/>
              </a:rPr>
              <a:t>ПРЕДЛОЖЕНИЕ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547872"/>
            <a:ext cx="10863072" cy="932688"/>
          </a:xfrm>
          <a:prstGeom prst="roundRect">
            <a:avLst>
              <a:gd name="adj" fmla="val 8000"/>
            </a:avLst>
          </a:prstGeom>
          <a:solidFill>
            <a:srgbClr val="193836"/>
          </a:solidFill>
          <a:ln>
            <a:solidFill>
              <a:srgbClr val="1938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3675887"/>
            <a:ext cx="10287000" cy="6583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Планировать текущий MVP к 13 ноября. Зафиксировать объём; ST-16–ST-18 оставить за рамками релиза. Для более раннего запуска согласовать меньший срез и пересчитать срок.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4736592"/>
            <a:ext cx="681228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176960"/>
                </a:solidFill>
                <a:latin typeface="Aptos"/>
              </a:rPr>
              <a:t>ДОПУЩЕНИЯ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5056632"/>
            <a:ext cx="6629400" cy="8046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82B2B"/>
                </a:solidFill>
                <a:latin typeface="Aptos"/>
              </a:rPr>
              <a:t>15 учебных значений из примера методички, включая 2 нулевые недели. Это не фактическая скорость SaparTravel: идёт 6-я неделя, завершено не более 5 недель наблюдений. Даты только иллюстрируют метод.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54112" y="4736592"/>
            <a:ext cx="3767328" cy="11247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4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10144" y="4873752"/>
            <a:ext cx="32004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546765"/>
                </a:solidFill>
                <a:latin typeface="Aptos"/>
              </a:rPr>
              <a:t>СЛЕДУЮЩИЙ ПЕРЕСМОТР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10144" y="5175504"/>
            <a:ext cx="3246120" cy="4389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182B2B"/>
                </a:solidFill>
                <a:latin typeface="Aptos"/>
              </a:rPr>
              <a:t>16 октября 2026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089904"/>
            <a:ext cx="10863072" cy="13716"/>
          </a:xfrm>
          <a:prstGeom prst="rect">
            <a:avLst/>
          </a:prstGeom>
          <a:solidFill>
            <a:srgbClr val="DAE4DF"/>
          </a:solidFill>
          <a:ln>
            <a:solidFill>
              <a:srgbClr val="DAE4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6208776"/>
            <a:ext cx="1051560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546765"/>
                </a:solidFill>
                <a:latin typeface="Aptos"/>
              </a:rPr>
              <a:t>Если появятся новые задачи, блокировки или изменится доступность команды, диапазон нужно пересчитать.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