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76960"/>
                </a:solidFill>
                <a:latin typeface="Aptos"/>
              </a:rPr>
              <a:t>SAPARTRAVEL  / 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182B2B"/>
                </a:solidFill>
                <a:latin typeface="Aptos"/>
              </a:rPr>
              <a:t>Когда будет готово?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15568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46765"/>
                </a:solidFill>
                <a:latin typeface="Aptos"/>
              </a:rPr>
              <a:t>Текущий объём: 15 историй MVP  •  расчёт на 9 октября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528523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73152" cy="1417320"/>
          </a:xfrm>
          <a:prstGeom prst="rect">
            <a:avLst/>
          </a:prstGeom>
          <a:solidFill>
            <a:srgbClr val="176960"/>
          </a:solidFill>
          <a:ln>
            <a:solidFill>
              <a:srgbClr val="176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73352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76960"/>
                </a:solidFill>
                <a:latin typeface="Aptos"/>
              </a:rPr>
              <a:t>РАННИЙ ОРИЕНТИР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29384"/>
            <a:ext cx="4617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82B2B"/>
                </a:solidFill>
                <a:latin typeface="Aptos"/>
              </a:rPr>
              <a:t>6 ноября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466344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46765"/>
                </a:solidFill>
                <a:latin typeface="Aptos"/>
              </a:rPr>
              <a:t>Примерно 50 из 100 сценариев завершились к этой дате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36192"/>
            <a:ext cx="5285232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536192"/>
            <a:ext cx="73152" cy="1417320"/>
          </a:xfrm>
          <a:prstGeom prst="rect">
            <a:avLst/>
          </a:prstGeom>
          <a:solidFill>
            <a:srgbClr val="C45E31"/>
          </a:solidFill>
          <a:ln>
            <a:solidFill>
              <a:srgbClr val="C45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73352"/>
            <a:ext cx="457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45E31"/>
                </a:solidFill>
                <a:latin typeface="Aptos"/>
              </a:rPr>
              <a:t>ПЛАН С ЗАПАСОМ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29384"/>
            <a:ext cx="4617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82B2B"/>
                </a:solidFill>
                <a:latin typeface="Aptos"/>
              </a:rPr>
              <a:t>13 ноября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50592"/>
            <a:ext cx="466344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46765"/>
                </a:solidFill>
                <a:latin typeface="Aptos"/>
              </a:rPr>
              <a:t>85 из 100 сценариев завершились не позднее этой даты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218688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76960"/>
                </a:solidFill>
                <a:latin typeface="Aptos"/>
              </a:rPr>
              <a:t>ПРЕДЛОЖЕНИЕ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47872"/>
            <a:ext cx="10863072" cy="932688"/>
          </a:xfrm>
          <a:prstGeom prst="roundRect">
            <a:avLst>
              <a:gd name="adj" fmla="val 8000"/>
            </a:avLst>
          </a:prstGeom>
          <a:solidFill>
            <a:srgbClr val="193836"/>
          </a:solidFill>
          <a:ln>
            <a:solidFill>
              <a:srgbClr val="193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675887"/>
            <a:ext cx="1028700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Планировать текущий MVP к 13 ноября. Зафиксировать объём; ST-16–ST-18 оставить за рамками релиза. Для более раннего запуска согласовать меньший срез и пересчитать срок.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736592"/>
            <a:ext cx="68122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76960"/>
                </a:solidFill>
                <a:latin typeface="Aptos"/>
              </a:rPr>
              <a:t>ДОПУЩЕНИЯ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5056632"/>
            <a:ext cx="6629400" cy="8046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2B2B"/>
                </a:solidFill>
                <a:latin typeface="Aptos"/>
              </a:rPr>
              <a:t>26 учебных недель, включая 2 недели без завершённых задач; состав команды и критерии готовности не меняются. Это не фактическая история SaparTravel: даты предварительные и не являются обязательством до проверки реальных данных.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4736592"/>
            <a:ext cx="3767328" cy="1124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4873752"/>
            <a:ext cx="3200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546765"/>
                </a:solidFill>
                <a:latin typeface="Aptos"/>
              </a:rPr>
              <a:t>СЛЕДУЮЩИЙ ПЕРЕСМОТР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5175504"/>
            <a:ext cx="32461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82B2B"/>
                </a:solidFill>
                <a:latin typeface="Aptos"/>
              </a:rPr>
              <a:t>16 октября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089904"/>
            <a:ext cx="10863072" cy="13716"/>
          </a:xfrm>
          <a:prstGeom prst="rect">
            <a:avLst/>
          </a:prstGeom>
          <a:solidFill>
            <a:srgbClr val="DAE4DF"/>
          </a:solidFill>
          <a:ln>
            <a:solidFill>
              <a:srgbClr val="DA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208776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46765"/>
                </a:solidFill>
                <a:latin typeface="Aptos"/>
              </a:rPr>
              <a:t>Если появятся новые задачи, блокировки или изменится доступность команды, диапазон нужно пересчитать.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