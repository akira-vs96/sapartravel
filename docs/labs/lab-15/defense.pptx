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0:00–1:00. Назвать конкретного заказчика после подтверждения. Не выдавать допущения за результаты интервью.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1:00–5:00. Живой отдельный стенд, без реальных денег. Резерв: локальный Compose и сохранённые проверки/скриншоты. Сами скриншоты не заменяют живой показ.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5:00–7:00. Открыть исправленный XLSX, показать формулы и Checks. Не смешивать выгоду автоматизации с комиссионной гипотезой и фактическими расходами.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7:00–9:00. Показать план/факт: неизвестные клетки пусты явно. Не утверждать, что срок улучшился по двум искусственным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9:00–11:00. Указать конкретный стенд и дату. Свежий CI добавляется отдельной ссылкой; локальные результаты не доказывают месяц эксплуатационной доступности.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11:00–13:00. Называть наблюдаемые триггеры и конкретные решения. Не скрывать отсутствие ручных замеров и независимых эталонов.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13:00–15:00. Открыть оглавление портфолио. Зафиксировать вопрос/решение принимающего; тишина не означает приёмку.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и границы • 1 минута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Поиск, выезд, заявка и прозрачный статус на ru/kk/en.</a:t>
            </a:r>
          </a:p>
          <a:p>
            <a:pPr>
              <a:defRPr sz="2100"/>
            </a:pPr>
            <a:r>
              <a:t>30→8 минут — гипотеза ЛЗ3, не наблюдаемый эффект.</a:t>
            </a:r>
          </a:p>
          <a:p>
            <a:pPr>
              <a:defRPr sz="2100"/>
            </a:pPr>
            <a:r>
              <a:t>Банковский эквайринг и 24×7 сопровождение вне базы.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Живая демонстрация • 4 минуты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Турист: поиск → выезд → два участника/услуга → тестовая оплата → история → отмена/возврат.</a:t>
            </a:r>
          </a:p>
          <a:p>
            <a:pPr>
              <a:defRPr sz="2100"/>
            </a:pPr>
            <a:r>
              <a:t>Поставщик: свой тур, чужой доступ закрыт.</a:t>
            </a:r>
          </a:p>
          <a:p>
            <a:pPr>
              <a:defRPr sz="2100"/>
            </a:pPr>
            <a:r>
              <a:t>Отказ: причина отмены и неверный ответ сервера.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Экономика • 2 минуты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Исторический кейс: TCO 46 000 USD / 3 года, NPV 9 632,11 USD при 15%.</a:t>
            </a:r>
          </a:p>
          <a:p>
            <a:pPr>
              <a:defRPr sz="2100"/>
            </a:pPr>
            <a:r>
              <a:t>Текущий бюджет ЛЗ8: база 13 081 550,17 KZT, лимит 13 430 943,37 KZT.</a:t>
            </a:r>
          </a:p>
          <a:p>
            <a:pPr>
              <a:defRPr sz="2100"/>
            </a:pPr>
            <a:r>
              <a:t>62 ч EMV; 9 ч разрыва capacity. Все цены/эффекты — смета и допущения.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Прогноз против факта • 2 минуты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WBS: 171 ч, net capacity 204 ч — план; фактического timesheet нет.</a:t>
            </a:r>
          </a:p>
          <a:p>
            <a:pPr>
              <a:defRPr sz="2100"/>
            </a:pPr>
            <a:r>
              <a:t>26 недель внешних закрытий, 11 нулевых недель; не скорость нашей команды.</a:t>
            </a:r>
          </a:p>
          <a:p>
            <a:pPr>
              <a:defRPr sz="2100"/>
            </a:pPr>
            <a:r>
              <a:t>Учебная ЛЗ9: 20 задач, выпуск 10/10; mean 31,2→33,5 ч, p85 50,925→49,3 ч. Реальная приёмка отдельно.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Измерения • 2 минуты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86 backend-тестов; покрытие 86,17% при пороге 60%.</a:t>
            </a:r>
          </a:p>
          <a:p>
            <a:pPr>
              <a:defRPr sz="2100"/>
            </a:pPr>
            <a:r>
              <a:t>8 браузерных сценариев. 500 туров / 20 RPS / 12 000 запросов: p95 93,47 мс.</a:t>
            </a:r>
          </a:p>
          <a:p>
            <a:pPr>
              <a:defRPr sz="2100"/>
            </a:pPr>
            <a:r>
              <a:t>Локальное восстановление: 36,019 с; пять минут по 3/3.</a:t>
            </a:r>
          </a:p>
          <a:p>
            <a:pPr>
              <a:defRPr sz="2100"/>
            </a:pPr>
            <a:r>
              <a:t>38 исходных CI runs ≠ deployments: зарегистрированных deployments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Риски и решения • 2 минуты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Нужны заказчик/внешний UAT, согласованный календарь, URL и 3 внешних узла.</a:t>
            </a:r>
          </a:p>
          <a:p>
            <a:pPr>
              <a:defRPr sz="2100"/>
            </a:pPr>
            <a:r>
              <a:t>Модель реально запущена, но хуже правил; автоматические действия отклонены.</a:t>
            </a:r>
          </a:p>
          <a:p>
            <a:pPr>
              <a:defRPr sz="2100"/>
            </a:pPr>
            <a:r>
              <a:t>Портфельный WIP 3, оценки WSJF ещё не утверждены.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Уроки и передача • 2 минуты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Проверять источник агрегата, а не только формулы бюджета.</a:t>
            </a:r>
          </a:p>
          <a:p>
            <a:pPr>
              <a:defRPr sz="2100"/>
            </a:pPr>
            <a:r>
              <a:t>HTTP 200 недостаточен без корректного содержимого.</a:t>
            </a:r>
          </a:p>
          <a:p>
            <a:pPr>
              <a:defRPr sz="2100"/>
            </a:pPr>
            <a:r>
              <a:t>Отделять факты от допущений, демонстрацию от независимой приёмки.</a:t>
            </a:r>
          </a:p>
          <a:p>
            <a:pPr>
              <a:defRPr sz="2100"/>
            </a:pPr>
            <a:r>
              <a:t>15 учебных разборов, 275 шагов с артефактами; настоящие подтверждения и доступ — отдельный лист сдачи.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